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2068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B7CA2B-137C-48F0-90A7-0D7F3589FDD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BBD29A-A718-4569-937D-8ABCD25796AD}">
      <dgm:prSet/>
      <dgm:spPr/>
      <dgm:t>
        <a:bodyPr/>
        <a:lstStyle/>
        <a:p>
          <a:r>
            <a:rPr lang="en-US"/>
            <a:t>El sistema RAG permite consultar documentos técnicos mediante lenguaje natural.</a:t>
          </a:r>
        </a:p>
      </dgm:t>
    </dgm:pt>
    <dgm:pt modelId="{3689909C-F53A-4E07-9080-E47EF4026F34}" type="parTrans" cxnId="{EDF0F7AF-70EB-45AA-A115-DD5D97BA8169}">
      <dgm:prSet/>
      <dgm:spPr/>
      <dgm:t>
        <a:bodyPr/>
        <a:lstStyle/>
        <a:p>
          <a:endParaRPr lang="en-US"/>
        </a:p>
      </dgm:t>
    </dgm:pt>
    <dgm:pt modelId="{A9842D1C-BA5A-487A-980C-7A107D5A3728}" type="sibTrans" cxnId="{EDF0F7AF-70EB-45AA-A115-DD5D97BA8169}">
      <dgm:prSet/>
      <dgm:spPr/>
      <dgm:t>
        <a:bodyPr/>
        <a:lstStyle/>
        <a:p>
          <a:endParaRPr lang="en-US"/>
        </a:p>
      </dgm:t>
    </dgm:pt>
    <dgm:pt modelId="{C391A48B-35CF-4ADF-BC06-5BC59ED8B02D}">
      <dgm:prSet/>
      <dgm:spPr/>
      <dgm:t>
        <a:bodyPr/>
        <a:lstStyle/>
        <a:p>
          <a:r>
            <a:rPr lang="en-US"/>
            <a:t>La combinación de retrieval híbrido y reranking mejora la precisión.</a:t>
          </a:r>
        </a:p>
      </dgm:t>
    </dgm:pt>
    <dgm:pt modelId="{79EDE018-8B10-476F-B66C-B38C39149807}" type="parTrans" cxnId="{2B1383EC-447E-4846-A3BA-DAA752A8084B}">
      <dgm:prSet/>
      <dgm:spPr/>
      <dgm:t>
        <a:bodyPr/>
        <a:lstStyle/>
        <a:p>
          <a:endParaRPr lang="en-US"/>
        </a:p>
      </dgm:t>
    </dgm:pt>
    <dgm:pt modelId="{46E1724F-08D2-4E71-BA99-BBF4969E74F0}" type="sibTrans" cxnId="{2B1383EC-447E-4846-A3BA-DAA752A8084B}">
      <dgm:prSet/>
      <dgm:spPr/>
      <dgm:t>
        <a:bodyPr/>
        <a:lstStyle/>
        <a:p>
          <a:endParaRPr lang="en-US"/>
        </a:p>
      </dgm:t>
    </dgm:pt>
    <dgm:pt modelId="{D86F44BA-C6BF-4476-AE4D-78A3E122426D}">
      <dgm:prSet/>
      <dgm:spPr/>
      <dgm:t>
        <a:bodyPr/>
        <a:lstStyle/>
        <a:p>
          <a:r>
            <a:rPr lang="en-US"/>
            <a:t>El grounding alto demuestra que las respuestas están bien fundamentadas.</a:t>
          </a:r>
        </a:p>
      </dgm:t>
    </dgm:pt>
    <dgm:pt modelId="{E1A16CB2-2811-414E-954D-22FDCC9BBCF3}" type="parTrans" cxnId="{5727B2D1-D043-4BD2-AE1C-E3738D501A4D}">
      <dgm:prSet/>
      <dgm:spPr/>
      <dgm:t>
        <a:bodyPr/>
        <a:lstStyle/>
        <a:p>
          <a:endParaRPr lang="en-US"/>
        </a:p>
      </dgm:t>
    </dgm:pt>
    <dgm:pt modelId="{2A2C1773-7A89-418B-B710-F24F87432276}" type="sibTrans" cxnId="{5727B2D1-D043-4BD2-AE1C-E3738D501A4D}">
      <dgm:prSet/>
      <dgm:spPr/>
      <dgm:t>
        <a:bodyPr/>
        <a:lstStyle/>
        <a:p>
          <a:endParaRPr lang="en-US"/>
        </a:p>
      </dgm:t>
    </dgm:pt>
    <dgm:pt modelId="{C675EC71-2F7D-467F-89CE-4E055A45CF56}" type="pres">
      <dgm:prSet presAssocID="{0FB7CA2B-137C-48F0-90A7-0D7F3589FDD2}" presName="linear" presStyleCnt="0">
        <dgm:presLayoutVars>
          <dgm:animLvl val="lvl"/>
          <dgm:resizeHandles val="exact"/>
        </dgm:presLayoutVars>
      </dgm:prSet>
      <dgm:spPr/>
    </dgm:pt>
    <dgm:pt modelId="{D52ED0C3-45D7-4F97-9F34-19507F5D9341}" type="pres">
      <dgm:prSet presAssocID="{C5BBD29A-A718-4569-937D-8ABCD25796A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195A4E-D27E-48AA-BD36-7F27016D72BF}" type="pres">
      <dgm:prSet presAssocID="{A9842D1C-BA5A-487A-980C-7A107D5A3728}" presName="spacer" presStyleCnt="0"/>
      <dgm:spPr/>
    </dgm:pt>
    <dgm:pt modelId="{57D55274-D4CF-48BF-8B57-0852B8849B7C}" type="pres">
      <dgm:prSet presAssocID="{C391A48B-35CF-4ADF-BC06-5BC59ED8B02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645441-1E20-4FA6-9D54-503C1CB6761E}" type="pres">
      <dgm:prSet presAssocID="{46E1724F-08D2-4E71-BA99-BBF4969E74F0}" presName="spacer" presStyleCnt="0"/>
      <dgm:spPr/>
    </dgm:pt>
    <dgm:pt modelId="{559CC606-F12C-4B60-A29E-D77C1DF4831D}" type="pres">
      <dgm:prSet presAssocID="{D86F44BA-C6BF-4476-AE4D-78A3E12242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6D0D00B-9B49-4F91-B176-2F872A879E4B}" type="presOf" srcId="{C391A48B-35CF-4ADF-BC06-5BC59ED8B02D}" destId="{57D55274-D4CF-48BF-8B57-0852B8849B7C}" srcOrd="0" destOrd="0" presId="urn:microsoft.com/office/officeart/2005/8/layout/vList2"/>
    <dgm:cxn modelId="{3D91B243-8762-4A38-A349-4DDFF31B443B}" type="presOf" srcId="{D86F44BA-C6BF-4476-AE4D-78A3E122426D}" destId="{559CC606-F12C-4B60-A29E-D77C1DF4831D}" srcOrd="0" destOrd="0" presId="urn:microsoft.com/office/officeart/2005/8/layout/vList2"/>
    <dgm:cxn modelId="{B13DA69F-60D8-4639-B817-F058AA7E8795}" type="presOf" srcId="{0FB7CA2B-137C-48F0-90A7-0D7F3589FDD2}" destId="{C675EC71-2F7D-467F-89CE-4E055A45CF56}" srcOrd="0" destOrd="0" presId="urn:microsoft.com/office/officeart/2005/8/layout/vList2"/>
    <dgm:cxn modelId="{EDF0F7AF-70EB-45AA-A115-DD5D97BA8169}" srcId="{0FB7CA2B-137C-48F0-90A7-0D7F3589FDD2}" destId="{C5BBD29A-A718-4569-937D-8ABCD25796AD}" srcOrd="0" destOrd="0" parTransId="{3689909C-F53A-4E07-9080-E47EF4026F34}" sibTransId="{A9842D1C-BA5A-487A-980C-7A107D5A3728}"/>
    <dgm:cxn modelId="{5727B2D1-D043-4BD2-AE1C-E3738D501A4D}" srcId="{0FB7CA2B-137C-48F0-90A7-0D7F3589FDD2}" destId="{D86F44BA-C6BF-4476-AE4D-78A3E122426D}" srcOrd="2" destOrd="0" parTransId="{E1A16CB2-2811-414E-954D-22FDCC9BBCF3}" sibTransId="{2A2C1773-7A89-418B-B710-F24F87432276}"/>
    <dgm:cxn modelId="{2B1383EC-447E-4846-A3BA-DAA752A8084B}" srcId="{0FB7CA2B-137C-48F0-90A7-0D7F3589FDD2}" destId="{C391A48B-35CF-4ADF-BC06-5BC59ED8B02D}" srcOrd="1" destOrd="0" parTransId="{79EDE018-8B10-476F-B66C-B38C39149807}" sibTransId="{46E1724F-08D2-4E71-BA99-BBF4969E74F0}"/>
    <dgm:cxn modelId="{499401F2-8B65-4F83-9E26-1ED6228FE051}" type="presOf" srcId="{C5BBD29A-A718-4569-937D-8ABCD25796AD}" destId="{D52ED0C3-45D7-4F97-9F34-19507F5D9341}" srcOrd="0" destOrd="0" presId="urn:microsoft.com/office/officeart/2005/8/layout/vList2"/>
    <dgm:cxn modelId="{5DB52A50-04FC-4A3C-BFA9-ECCA265FB3DF}" type="presParOf" srcId="{C675EC71-2F7D-467F-89CE-4E055A45CF56}" destId="{D52ED0C3-45D7-4F97-9F34-19507F5D9341}" srcOrd="0" destOrd="0" presId="urn:microsoft.com/office/officeart/2005/8/layout/vList2"/>
    <dgm:cxn modelId="{F34A1D64-9EAA-4503-92BE-374E57A985F8}" type="presParOf" srcId="{C675EC71-2F7D-467F-89CE-4E055A45CF56}" destId="{68195A4E-D27E-48AA-BD36-7F27016D72BF}" srcOrd="1" destOrd="0" presId="urn:microsoft.com/office/officeart/2005/8/layout/vList2"/>
    <dgm:cxn modelId="{EE39C4AE-36F7-4042-9675-CFADB954D656}" type="presParOf" srcId="{C675EC71-2F7D-467F-89CE-4E055A45CF56}" destId="{57D55274-D4CF-48BF-8B57-0852B8849B7C}" srcOrd="2" destOrd="0" presId="urn:microsoft.com/office/officeart/2005/8/layout/vList2"/>
    <dgm:cxn modelId="{5A6DBA68-B4DF-414B-A31A-A627F480E115}" type="presParOf" srcId="{C675EC71-2F7D-467F-89CE-4E055A45CF56}" destId="{E2645441-1E20-4FA6-9D54-503C1CB6761E}" srcOrd="3" destOrd="0" presId="urn:microsoft.com/office/officeart/2005/8/layout/vList2"/>
    <dgm:cxn modelId="{E7260D77-CD1E-417A-AE55-FAF7D378313D}" type="presParOf" srcId="{C675EC71-2F7D-467F-89CE-4E055A45CF56}" destId="{559CC606-F12C-4B60-A29E-D77C1DF483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ED0C3-45D7-4F97-9F34-19507F5D9341}">
      <dsp:nvSpPr>
        <dsp:cNvPr id="0" name=""/>
        <dsp:cNvSpPr/>
      </dsp:nvSpPr>
      <dsp:spPr>
        <a:xfrm>
          <a:off x="0" y="634549"/>
          <a:ext cx="4726201" cy="1484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 sistema RAG permite consultar documentos técnicos mediante lenguaje natural.</a:t>
          </a:r>
        </a:p>
      </dsp:txBody>
      <dsp:txXfrm>
        <a:off x="72479" y="707028"/>
        <a:ext cx="4581243" cy="1339772"/>
      </dsp:txXfrm>
    </dsp:sp>
    <dsp:sp modelId="{57D55274-D4CF-48BF-8B57-0852B8849B7C}">
      <dsp:nvSpPr>
        <dsp:cNvPr id="0" name=""/>
        <dsp:cNvSpPr/>
      </dsp:nvSpPr>
      <dsp:spPr>
        <a:xfrm>
          <a:off x="0" y="2197039"/>
          <a:ext cx="4726201" cy="14847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 combinación de retrieval híbrido y reranking mejora la precisión.</a:t>
          </a:r>
        </a:p>
      </dsp:txBody>
      <dsp:txXfrm>
        <a:off x="72479" y="2269518"/>
        <a:ext cx="4581243" cy="1339772"/>
      </dsp:txXfrm>
    </dsp:sp>
    <dsp:sp modelId="{559CC606-F12C-4B60-A29E-D77C1DF4831D}">
      <dsp:nvSpPr>
        <dsp:cNvPr id="0" name=""/>
        <dsp:cNvSpPr/>
      </dsp:nvSpPr>
      <dsp:spPr>
        <a:xfrm>
          <a:off x="0" y="3759529"/>
          <a:ext cx="4726201" cy="1484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 grounding alto demuestra que las respuestas están bien fundamentadas.</a:t>
          </a:r>
        </a:p>
      </dsp:txBody>
      <dsp:txXfrm>
        <a:off x="72479" y="3832008"/>
        <a:ext cx="4581243" cy="1339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 fontScale="90000"/>
          </a:bodyPr>
          <a:lstStyle/>
          <a:p>
            <a:r>
              <a:rPr lang="es-MX" sz="3600" dirty="0"/>
              <a:t>Diseño de un Sistema RAG para Documentos de Encuestas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MX" sz="1700" dirty="0"/>
              <a:t>Diseño de un Sistema RAG para Documentos de Encuestas</a:t>
            </a:r>
          </a:p>
          <a:p>
            <a:r>
              <a:rPr lang="es-MX" sz="1700" dirty="0"/>
              <a:t>Autor: Proyecto IA</a:t>
            </a:r>
          </a:p>
          <a:p>
            <a:r>
              <a:rPr lang="es-MX" sz="1700" dirty="0"/>
              <a:t>Contexto: Documentos del INEI y </a:t>
            </a:r>
            <a:r>
              <a:rPr lang="es-MX" sz="1700" dirty="0" err="1"/>
              <a:t>World</a:t>
            </a:r>
            <a:r>
              <a:rPr lang="es-MX" sz="1700" dirty="0"/>
              <a:t> Bank</a:t>
            </a:r>
          </a:p>
          <a:p>
            <a:endParaRPr lang="es-MX" sz="1700" dirty="0"/>
          </a:p>
          <a:p>
            <a:endParaRPr lang="es-MX" sz="1700" dirty="0"/>
          </a:p>
          <a:p>
            <a:endParaRPr lang="es-MX" sz="1700" dirty="0"/>
          </a:p>
          <a:p>
            <a:endParaRPr lang="es-MX" sz="1700" dirty="0"/>
          </a:p>
          <a:p>
            <a:r>
              <a:rPr lang="es-MX" sz="1700" dirty="0"/>
              <a:t>Alumno: Christian Llecllish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F5F7B-84FF-9645-9464-D21B54AF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47" r="3560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 descr="Piles of paper">
            <a:extLst>
              <a:ext uri="{FF2B5EF4-FFF2-40B4-BE49-F238E27FC236}">
                <a16:creationId xmlns:a16="http://schemas.microsoft.com/office/drawing/2014/main" id="{EE8144FA-59FD-16C3-0A36-DF92A22E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07" r="18243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s-PE" sz="3500"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s-MX" sz="1700"/>
              <a:t>Los documentos extensos dificultan encontrar información específica.</a:t>
            </a:r>
          </a:p>
          <a:p>
            <a:r>
              <a:rPr lang="es-MX" sz="1700"/>
              <a:t>Se propone un sistema RAG que permita consultar documentos de encuestas mediante lenguaje natural.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del Sistema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700" y="1900826"/>
            <a:ext cx="4797153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Pipeline: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3AF409-48D2-0288-783E-D1C390EA6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" y="4073669"/>
            <a:ext cx="8797159" cy="747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9C59EB9-3EFB-49DD-F17C-462E2A56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619943" cy="42566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192241-76DA-1D43-9E93-7B21ECDC3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5" y="4768054"/>
            <a:ext cx="4254719" cy="15304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89E9A52-71F8-B6D2-BE37-11DDB46B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317" y="4084889"/>
            <a:ext cx="3976793" cy="256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0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2B77F10-780E-28D2-10FD-7C243A0B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53326" cy="3429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A41CB7-4604-8F39-7C15-33997E6D5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" y="3487287"/>
            <a:ext cx="2085433" cy="12981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3C65957-5E42-C1F5-30B9-064A29B96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234" y="4109532"/>
            <a:ext cx="3451645" cy="239809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7072179-EFFA-3EC2-E3A5-A457BF001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394" y="3278516"/>
            <a:ext cx="3130711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92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467CD9-28C5-D2FE-3C57-767492998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798217" cy="282011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D6F944-FBE2-86BF-2FF9-609E69135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2" y="2941961"/>
            <a:ext cx="2817692" cy="1316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10321D-99F1-6731-B326-C831A53EC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2" y="4306913"/>
            <a:ext cx="4599313" cy="2495538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84930C9-BAD4-196B-5788-44C291249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217" y="3600173"/>
            <a:ext cx="4536759" cy="2147898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13171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B0B0AF4-0DEC-29F7-970A-B7E7C58A3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329"/>
            <a:ext cx="4022085" cy="29845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AA533E7-5245-40B4-5856-E3F08DB7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052" y="69241"/>
            <a:ext cx="2400389" cy="942177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15897F-7532-F95C-8D28-3F6B3C9A4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052" y="1011418"/>
            <a:ext cx="4626568" cy="944198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DE8B785-DF71-690B-E5B0-0B025A0F1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052" y="1939488"/>
            <a:ext cx="2477299" cy="191660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34E5D59-7AF3-E6F5-4486-CE6659061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191" y="4131892"/>
            <a:ext cx="2463253" cy="2616688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4C13990-B42D-9034-7CC1-FBF5C39B4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7010" y="4131892"/>
            <a:ext cx="2742313" cy="250559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BF51D33-ACE2-E30F-6997-A00A8FFB5905}"/>
              </a:ext>
            </a:extLst>
          </p:cNvPr>
          <p:cNvSpPr/>
          <p:nvPr/>
        </p:nvSpPr>
        <p:spPr>
          <a:xfrm>
            <a:off x="3132034" y="4661731"/>
            <a:ext cx="239282" cy="10468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167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45FCBFF-EF68-7EB7-ED4F-8E43DE1FB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95657" cy="26515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EA89EA5-893F-15B7-0E5F-2F7CA70AA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1" y="2709019"/>
            <a:ext cx="4630097" cy="149441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F8A8665-4282-694C-E2A0-72F9B1BED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972" y="4292196"/>
            <a:ext cx="4762745" cy="1854295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9266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13EAD7-AD65-8AEA-8170-8352288DD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79" y="2101080"/>
            <a:ext cx="3002161" cy="22646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CC50BE-0529-E4A2-21F1-A94248C43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46" y="704134"/>
            <a:ext cx="5011279" cy="165551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7227FCD-F8D1-4DCB-6384-C0ACA3A2B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046" y="2869341"/>
            <a:ext cx="4069521" cy="3061474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29667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C7F703C-1778-0EC3-559B-F7D36AA6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2865508" cy="21150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DE3ADB-DD1A-3FA2-B410-ED8D1AB2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6130"/>
            <a:ext cx="9144000" cy="123751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3FDF3F1-8592-2F9D-5E6A-E20F3E1D2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755" y="3474357"/>
            <a:ext cx="5459428" cy="326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6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PE" sz="3100">
                <a:solidFill>
                  <a:schemeClr val="bg1"/>
                </a:solidFill>
              </a:rPr>
              <a:t>Conclusiones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420B9B-3FA9-FEA5-9C82-A6B2EDE30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71755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2D7BA1-301B-40E4-8B88-D89AEF66A28A}">
  <we:reference id="wa200006038" version="1.0.0.5" store="es-MX" storeType="OMEX"/>
  <we:alternateReferences>
    <we:reference id="wa200006038" version="1.0.0.5" store="wa200006038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98</Words>
  <Application>Microsoft Office PowerPoint</Application>
  <PresentationFormat>Presentación en pantalla (4:3)</PresentationFormat>
  <Paragraphs>18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Diseño de un Sistema RAG para Documentos de Encuestas</vt:lpstr>
      <vt:lpstr>Problema</vt:lpstr>
      <vt:lpstr>Arquitectura del Sistema RAG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Christian LLecllish Zarate</dc:creator>
  <cp:keywords/>
  <dc:description>generated using python-pptx</dc:description>
  <cp:lastModifiedBy>Christian LLecllish Zarate</cp:lastModifiedBy>
  <cp:revision>6</cp:revision>
  <dcterms:created xsi:type="dcterms:W3CDTF">2013-01-27T09:14:16Z</dcterms:created>
  <dcterms:modified xsi:type="dcterms:W3CDTF">2026-03-18T23:36:37Z</dcterms:modified>
  <cp:category/>
</cp:coreProperties>
</file>